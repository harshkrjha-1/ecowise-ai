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Inter"/>
      <p:bold r:id="rId26"/>
    </p:embeddedFont>
    <p:embeddedFont>
      <p:font typeface="Plus Jakarta Sans"/>
      <p:bold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05151"/>
            <a:ext cx="106680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1288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305151"/>
            <a:ext cx="10668000" cy="9525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495550"/>
            <a:ext cx="11430000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EcoWise 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99370"/>
            <a:ext cx="8096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A1A1AA"/>
                </a:solidFill>
                <a:latin typeface="Inter"/>
              </a:rPr>
              <a:t>Agentic AI for multimodal campus waste classification, 12ms edge telemetry, and IBM Granite RAG decision governance.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085975"/>
            <a:ext cx="3583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0B981"/>
                </a:solidFill>
                <a:latin typeface="Plus Jakarta Sans"/>
              </a:rPr>
              <a:t>PROJECT MASTER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595663"/>
            <a:ext cx="145851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1717A"/>
                </a:solidFill>
                <a:latin typeface="Inter"/>
              </a:rPr>
              <a:t>CORE PILLARS: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9312" y="4586138"/>
            <a:ext cx="1547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4E4E7"/>
                </a:solidFill>
                <a:latin typeface="Inter"/>
              </a:rPr>
              <a:t>NIR Vision Sorting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8062" y="4581376"/>
            <a:ext cx="371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4287" y="4586138"/>
            <a:ext cx="1323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4E4E7"/>
                </a:solidFill>
                <a:latin typeface="Inter"/>
              </a:rPr>
              <a:t>FastAPI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3012" y="4581376"/>
            <a:ext cx="371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9237" y="4586138"/>
            <a:ext cx="1774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4E4E7"/>
                </a:solidFill>
                <a:latin typeface="Inter"/>
              </a:rPr>
              <a:t>IBM Granite 3.0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8962" y="4581376"/>
            <a:ext cx="371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5187" y="4586138"/>
            <a:ext cx="1500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0B981"/>
                </a:solidFill>
                <a:latin typeface="Inter"/>
              </a:rPr>
              <a:t>HITL Governance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B78AF-CEA4-0A55-FF86-CC8352F74CFD}"/>
              </a:ext>
            </a:extLst>
          </p:cNvPr>
          <p:cNvSpPr txBox="1"/>
          <p:nvPr/>
        </p:nvSpPr>
        <p:spPr>
          <a:xfrm>
            <a:off x="1087120" y="5415280"/>
            <a:ext cx="5851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By- </a:t>
            </a:r>
          </a:p>
          <a:p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</a:t>
            </a:r>
            <a:r>
              <a:rPr lang="en-IN" sz="2400" b="1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Harsh Kumar Jha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004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004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00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32422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2" y="3324225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37" y="3324225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Autonomous Campus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48100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Multimodal Sorting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100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Real-time optical object classification.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48100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12ms Mesh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2100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Edge vibration and energy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48100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Granite RAG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21005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Grounded citations for ISO 14001.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5100"/>
            <a:ext cx="5334000" cy="2400300"/>
          </a:xfrm>
          <a:prstGeom prst="roundRect">
            <a:avLst>
              <a:gd name="adj" fmla="val 4761"/>
            </a:avLst>
          </a:prstGeom>
          <a:solidFill>
            <a:srgbClr val="1313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05100"/>
            <a:ext cx="5334000" cy="2400300"/>
          </a:xfrm>
          <a:prstGeom prst="roundRect">
            <a:avLst>
              <a:gd name="adj" fmla="val 4761"/>
            </a:avLst>
          </a:prstGeom>
          <a:solidFill>
            <a:srgbClr val="131316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Inter"/>
              </a:rPr>
              <a:t>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Campus Operational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57525"/>
            <a:ext cx="607575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7171"/>
                </a:solidFill>
                <a:latin typeface="Plus Jakarta Sans"/>
              </a:rPr>
              <a:t>Traditional Campus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057525"/>
            <a:ext cx="55911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4D399"/>
                </a:solidFill>
                <a:latin typeface="Plus Jakarta Sans"/>
              </a:rPr>
              <a:t>EcoWise Autonomous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495675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&gt;35% Contamination: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High sorting error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848100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Zero Telemetry: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Invisible power surges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200525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Delayed Feedback: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Waste spikes undetected for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552950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Manual Audits: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Subjective compliance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49567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&lt;0.5% Contamination: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Precision pneumatic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84810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12ms Live Stream: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Mesh sensor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20052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Instant Alerting: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Autonomous anomaly triggering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55295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Granite RAG: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Verifiable compliance grounding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52750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52750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952750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SUSTAINABILITY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UN SDG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28975"/>
            <a:ext cx="275034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Inter"/>
              </a:rPr>
              <a:t>SDG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67125"/>
            <a:ext cx="241030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Responsible Consumption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81475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98.7% material purity recovery.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228975"/>
            <a:ext cx="275034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Inter"/>
              </a:rPr>
              <a:t>SDG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667125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Sustainable Cities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962400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Eliminating campus bin contamination.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228975"/>
            <a:ext cx="275034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Inter"/>
              </a:rPr>
              <a:t>SDG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667125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Climate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962400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22% conveyor energy reduction.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3228975"/>
            <a:ext cx="275034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855F7"/>
                </a:solidFill>
                <a:latin typeface="Inter"/>
              </a:rPr>
              <a:t>SDG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3667125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Quality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3962400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Student eco-impact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480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767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252" y="1838325"/>
            <a:ext cx="5277147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77" y="1847850"/>
            <a:ext cx="5258097" cy="407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Decoupled Microservices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619375"/>
            <a:ext cx="63003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Plus Jakarta Sans"/>
              </a:rPr>
              <a:t>React 18 &amp; Vite 5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95600"/>
            <a:ext cx="600037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Tailwind chassis with live SVG gauges.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48075"/>
            <a:ext cx="63003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B6D4"/>
                </a:solidFill>
                <a:latin typeface="Plus Jakarta Sans"/>
              </a:rPr>
              <a:t>FastAPI Async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24300"/>
            <a:ext cx="600037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Pydantic validation with SQLAlchemy 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676775"/>
            <a:ext cx="63003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A855F7"/>
                </a:solidFill>
                <a:latin typeface="Plus Jakarta Sans"/>
              </a:rPr>
              <a:t>IBM Granite 3.0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953000"/>
            <a:ext cx="600037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Deterministic compliance knowledge grounding.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7000"/>
            <a:ext cx="3505200" cy="2476500"/>
          </a:xfrm>
          <a:prstGeom prst="roundRect">
            <a:avLst>
              <a:gd name="adj" fmla="val 4615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67000"/>
            <a:ext cx="3505200" cy="2476500"/>
          </a:xfrm>
          <a:prstGeom prst="roundRect">
            <a:avLst>
              <a:gd name="adj" fmla="val 4615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67000"/>
            <a:ext cx="3505200" cy="2476500"/>
          </a:xfrm>
          <a:prstGeom prst="roundRect">
            <a:avLst>
              <a:gd name="adj" fmla="val 4615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UI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Frontend Client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8132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Component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7725" y="298132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Styling &amp;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1525" y="298132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Analytics &amp;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400425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React 18: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Strict mode concurrence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14750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TypeScript: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Complete schema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229100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Vite 5: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Sub-second module reload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40042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Tailwind CSS: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Dark chassis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91477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Lucide Suite: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Vector industrial icons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442912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SVG Gauges: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Real-time dynamic strokes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40042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Recharts Engine: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Area, bar, and donuts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914775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Axios Client: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Bearer auth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229100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Fallbacks: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Resilient mock stores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004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004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00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7" y="332422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7" y="332422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332422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BACKEND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FastAPI High-Throughput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48100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Python 3.10+ Async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100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Concurrent event loops for telemetry.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48100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SQLAlchemy 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2100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SQLite and PostgreSQL persistence.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48100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Pydantic V2 Schemas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21005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Strict runtime payload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7950"/>
            <a:ext cx="5334000" cy="2514600"/>
          </a:xfrm>
          <a:prstGeom prst="roundRect">
            <a:avLst>
              <a:gd name="adj" fmla="val 4545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47950"/>
            <a:ext cx="5334000" cy="2514600"/>
          </a:xfrm>
          <a:prstGeom prst="roundRect">
            <a:avLst>
              <a:gd name="adj" fmla="val 4545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000375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00037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62" y="3095625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262" y="3095625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1: 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Dual-Role Security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7325" y="3057525"/>
            <a:ext cx="298787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Operator / Admin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552825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Account: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operator@ecowise.ai (admin123)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905250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Sensor Control: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Dynamic slider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257675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HITL Authority: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Approve or modify proposals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610100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Exports: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Full structured CSV and PDF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3057525"/>
            <a:ext cx="30628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Student / Campus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55282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Account: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student@ecowise.ai (student123)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90525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Impact Tracking: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Building sustainability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25767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Scanner Demo: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Item classification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61010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Knowledge Base: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Granite RAG compliance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05847" y="240030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05847" y="34480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5847" y="449580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38325"/>
            <a:ext cx="5277147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2: 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Central Operations Cockpit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972" y="2600325"/>
            <a:ext cx="564802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0B981"/>
                </a:solidFill>
                <a:latin typeface="Plus Jakarta Sans"/>
              </a:rPr>
              <a:t>Recharts Area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972" y="2876550"/>
            <a:ext cx="56480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Efficiency percentage vs energy draw.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972" y="3648075"/>
            <a:ext cx="564802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B6D4"/>
                </a:solidFill>
                <a:latin typeface="Plus Jakarta Sans"/>
              </a:rPr>
              <a:t>12ms Mesh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972" y="3924300"/>
            <a:ext cx="56480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Continuous edge sensor communication.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972" y="4695825"/>
            <a:ext cx="564802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Active KPI Badges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972" y="4972050"/>
            <a:ext cx="56480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1,245 kg tracked with 0.5% variance.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79B2BC-0CB3-65B3-5510-30E07F846E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04" r="8681"/>
          <a:stretch>
            <a:fillRect/>
          </a:stretch>
        </p:blipFill>
        <p:spPr>
          <a:xfrm>
            <a:off x="206990" y="1686441"/>
            <a:ext cx="6217920" cy="43995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19425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19425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HARDWARE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SVG Radial Telemetry Gauges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731" y="3333750"/>
            <a:ext cx="36909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10B981"/>
                </a:solidFill>
                <a:latin typeface="Plus Jakarta Sans"/>
              </a:rPr>
              <a:t>76.6%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457" y="39814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Line 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31" y="4276725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1A1AA"/>
                </a:solidFill>
                <a:latin typeface="Inter"/>
              </a:rPr>
              <a:t>230 of 300 items processed.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0531" y="3333750"/>
            <a:ext cx="36909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6B6D4"/>
                </a:solidFill>
                <a:latin typeface="Plus Jakarta Sans"/>
              </a:rPr>
              <a:t>95.0%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8257" y="39814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Actuator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31" y="4276725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1A1AA"/>
                </a:solidFill>
                <a:latin typeface="Inter"/>
              </a:rPr>
              <a:t>Pneumatic arms fully calibrated.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4331" y="3333750"/>
            <a:ext cx="36909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A855F7"/>
                </a:solidFill>
                <a:latin typeface="Plus Jakarta Sans"/>
              </a:rPr>
              <a:t>98.2%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2057" y="39814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Material Purity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4331" y="4276725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1A1AA"/>
                </a:solidFill>
                <a:latin typeface="Inter"/>
              </a:rPr>
              <a:t>High-grade recovered 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05847" y="240030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05847" y="34480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5847" y="449580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38325"/>
            <a:ext cx="5277147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47850"/>
            <a:ext cx="5258097" cy="407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3: /SCANNER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Multimodal Waste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972" y="2600325"/>
            <a:ext cx="564802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Plus Jakarta Sans"/>
              </a:rPr>
              <a:t>Bounding Box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972" y="2876550"/>
            <a:ext cx="56480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PET Plastic 94% and Can 98%.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972" y="3648075"/>
            <a:ext cx="564802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B6D4"/>
                </a:solidFill>
                <a:latin typeface="Plus Jakarta Sans"/>
              </a:rPr>
              <a:t>Dynamic Confidence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972" y="3924300"/>
            <a:ext cx="56480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0-100% threshold calibration sliders.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972" y="4695825"/>
            <a:ext cx="564802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Conveyor Speed Modulation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972" y="4972050"/>
            <a:ext cx="56480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10-100 m/min adaptive rate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6087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6087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6087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004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004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004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3424237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7" y="3424237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424237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DIAGNOSTICS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Oscillation &amp; Live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48112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Motor Oscillation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31006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Continuous vibration in mm/s.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48112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Power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31006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Active conveyor watt consumption.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48112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Terminal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31006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Timestamped actuator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5334000" cy="2124075"/>
          </a:xfrm>
          <a:prstGeom prst="roundRect">
            <a:avLst>
              <a:gd name="adj" fmla="val 5381"/>
            </a:avLst>
          </a:prstGeom>
          <a:solidFill>
            <a:srgbClr val="1313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43212"/>
            <a:ext cx="5334000" cy="2124075"/>
          </a:xfrm>
          <a:prstGeom prst="roundRect">
            <a:avLst>
              <a:gd name="adj" fmla="val 5381"/>
            </a:avLst>
          </a:prstGeom>
          <a:solidFill>
            <a:srgbClr val="131316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195637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195637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3281362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75" y="3281362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7: /KB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IBM Granite 3.0 RAG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3233737"/>
            <a:ext cx="261282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7171"/>
                </a:solidFill>
                <a:latin typeface="Plus Jakarta Sans"/>
              </a:rPr>
              <a:t>Ungrounded AI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09987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Hallucinations: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Fabricated disposal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062412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Audit Lag: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Zero verifiable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414837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CA5A5"/>
                </a:solidFill>
                <a:latin typeface="Inter"/>
              </a:rPr>
              <a:t>Penalties: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Risk of regulatory fines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233737"/>
            <a:ext cx="30628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4D399"/>
                </a:solidFill>
                <a:latin typeface="Plus Jakarta Sans"/>
              </a:rPr>
              <a:t>Granite Grounded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3709987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Ref #GR-883: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ISO 14001:2024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062412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EPA Guidance: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Deterministic circular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414837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Direct Chute: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Policy-driven diversion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86075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004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004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00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3337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3333750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587" y="3333750"/>
            <a:ext cx="1428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4: /ANALYTICS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Campus Resource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48100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5 Campus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1005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Building power and water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48100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Stream Purity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2100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Plastics 98.7% and metals 99.1% pure.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48100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Audit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21005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Structured CSV and PDF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4187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024187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024187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024187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131316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3004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38550" y="33004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29375" y="33004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20200" y="33004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EcoAction HITL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3004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9571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Surge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10037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32.9% plastic anomaly flagged.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5675" y="33004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79571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RCA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4110037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Granite isolates cafeteria 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33004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79571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Plan Creation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110037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6.2 bar actuator calibration.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7325" y="33004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79571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Human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4110037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1-click approval or modification.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6087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6087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6087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004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004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004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433762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433762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487" y="3433762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5: /SENSORS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IoT Mesh &amp; Pneumatics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48112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12 Edge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31006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Active MQTT telemetry mesh grid.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48112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Pneumatic Valves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31006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Piston pressure and cycle logging.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48112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Node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31006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Battery voltage and ping latency.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7950"/>
            <a:ext cx="5334000" cy="2514600"/>
          </a:xfrm>
          <a:prstGeom prst="roundRect">
            <a:avLst>
              <a:gd name="adj" fmla="val 4545"/>
            </a:avLst>
          </a:prstGeom>
          <a:solidFill>
            <a:srgbClr val="131316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47950"/>
            <a:ext cx="5334000" cy="2514600"/>
          </a:xfrm>
          <a:prstGeom prst="roundRect">
            <a:avLst>
              <a:gd name="adj" fmla="val 4545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000375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00037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7" y="3095625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262" y="3095625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VIEWPORT 6: /AGENT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Agentic Policy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7325" y="3057525"/>
            <a:ext cx="36129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4D399"/>
                </a:solidFill>
                <a:latin typeface="Plus Jakarta Sans"/>
              </a:rPr>
              <a:t>Human-in-the-Loop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552825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Operator Veto: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Plan requires 1-click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905250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Parameter Tuning: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Live modal pressure adjustments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257675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Audit Trail: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Explicit operator signatures stored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610100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Inter"/>
              </a:rPr>
              <a:t>Safety Gate:</a:t>
            </a:r>
            <a:r>
              <a:rPr sz="1350" b="0" i="0" u="none">
                <a:solidFill>
                  <a:srgbClr val="E4E4E7"/>
                </a:solidFill>
                <a:latin typeface="Inter"/>
              </a:rPr>
              <a:t> Essential for hazardous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3057525"/>
            <a:ext cx="30628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Full Autonomous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55282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Sub-Second Trigger: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Immediate valve actuation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90525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Automated Throttle: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Real-time conveyor slowdown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25767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Granite Direct Execution: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Rule-based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61010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Peak Efficiency: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 Maximizes line sorting speed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8962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28962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28962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28962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PERFORMANCE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Platform Operational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965" y="3443287"/>
            <a:ext cx="284559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0B981"/>
                </a:solidFill>
                <a:latin typeface="Plus Jakarta Sans"/>
              </a:rPr>
              <a:t>98.7%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65" y="4167187"/>
            <a:ext cx="2845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4E4E7"/>
                </a:solidFill>
                <a:latin typeface="Inter"/>
              </a:rPr>
              <a:t>Stream Purity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7790" y="3443287"/>
            <a:ext cx="284559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6B6D4"/>
                </a:solidFill>
                <a:latin typeface="Plus Jakarta Sans"/>
              </a:rPr>
              <a:t>&lt;0.5%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7790" y="4167187"/>
            <a:ext cx="2845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4E4E7"/>
                </a:solidFill>
                <a:latin typeface="Inter"/>
              </a:rPr>
              <a:t>Residual Contamination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8615" y="3443287"/>
            <a:ext cx="284559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F59E0B"/>
                </a:solidFill>
                <a:latin typeface="Plus Jakarta Sans"/>
              </a:rPr>
              <a:t>-22%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8615" y="4167187"/>
            <a:ext cx="2845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4E4E7"/>
                </a:solidFill>
                <a:latin typeface="Inter"/>
              </a:rPr>
              <a:t>Conveyor Energy Draw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9440" y="3443287"/>
            <a:ext cx="284559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A855F7"/>
                </a:solidFill>
                <a:latin typeface="Plus Jakarta Sans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9440" y="4167187"/>
            <a:ext cx="2845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4E4E7"/>
                </a:solidFill>
                <a:latin typeface="Inter"/>
              </a:rPr>
              <a:t>Items / Hr Capacity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480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76750"/>
            <a:ext cx="5276552" cy="876300"/>
          </a:xfrm>
          <a:prstGeom prst="roundRect">
            <a:avLst>
              <a:gd name="adj" fmla="val 10869"/>
            </a:avLst>
          </a:prstGeom>
          <a:solidFill>
            <a:srgbClr val="131316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252" y="1838325"/>
            <a:ext cx="5277147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ENGINEERING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Future Scope &amp; Edge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619375"/>
            <a:ext cx="63003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Plus Jakarta Sans"/>
              </a:rPr>
              <a:t>Jetson Nano Edge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95600"/>
            <a:ext cx="600037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Direct neural camera inference.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48075"/>
            <a:ext cx="63003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B6D4"/>
                </a:solidFill>
                <a:latin typeface="Plus Jakarta Sans"/>
              </a:rPr>
              <a:t>LSTM Predictive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24300"/>
            <a:ext cx="600037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Forecasting actuator vibration failure.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676775"/>
            <a:ext cx="63003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Blockchain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953000"/>
            <a:ext cx="600037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Immutable campus recycling audit trail.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A2225CE8-4513-6BE0-DCCC-A038E2EE5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77" y="1847850"/>
            <a:ext cx="5258097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87624" y="2651760"/>
            <a:ext cx="2416752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4400" b="1" i="0" u="none" dirty="0">
                <a:solidFill>
                  <a:srgbClr val="FFFFFF"/>
                </a:solidFill>
                <a:latin typeface="Plus Jakarta Sans"/>
              </a:rPr>
              <a:t>Thank You</a:t>
            </a:r>
            <a:endParaRPr sz="44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47875" y="3448050"/>
            <a:ext cx="8096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A1A1AA"/>
                </a:solidFill>
                <a:latin typeface="Inter"/>
              </a:rPr>
              <a:t>EcoWise AI: Transforming campus waste streams into circular resource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7259" y="4362450"/>
            <a:ext cx="20597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0B981"/>
                </a:solidFill>
                <a:latin typeface="Inter"/>
              </a:rPr>
              <a:t>• Autonomous Sorting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87" y="4362450"/>
            <a:ext cx="371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7762" y="4362450"/>
            <a:ext cx="2000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6B6D4"/>
                </a:solidFill>
                <a:latin typeface="Inter"/>
              </a:rPr>
              <a:t>• Real-Time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5612" y="4362450"/>
            <a:ext cx="371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4206" y="4362450"/>
            <a:ext cx="2405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A855F7"/>
                </a:solidFill>
                <a:latin typeface="Inter"/>
              </a:rPr>
              <a:t>• Granite RAG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841</Words>
  <Application>Microsoft Office PowerPoint</Application>
  <PresentationFormat>Widescreen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Plus Jakarta Sans</vt:lpstr>
      <vt:lpstr>Inter</vt:lpstr>
      <vt:lpstr>Calibri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JHA</cp:lastModifiedBy>
  <cp:revision>2</cp:revision>
  <dcterms:created xsi:type="dcterms:W3CDTF">2013-01-27T09:14:16Z</dcterms:created>
  <dcterms:modified xsi:type="dcterms:W3CDTF">2026-09-19T10:25:01Z</dcterms:modified>
  <cp:category/>
</cp:coreProperties>
</file>