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embeddedFontLst>
    <p:embeddedFont>
      <p:font typeface="Cambria" panose="02040503050406030204" pitchFamily="18" charset="0"/>
      <p:regular r:id="rId22"/>
      <p:bold r:id="rId23"/>
      <p:italic r:id="rId24"/>
      <p:boldItalic r:id="rId25"/>
    </p:embeddedFont>
    <p:embeddedFont>
      <p:font typeface="Inter"/>
      <p:bold r:id="rId26"/>
    </p:embeddedFont>
    <p:embeddedFont>
      <p:font typeface="Plus Jakarta Sans"/>
      <p:bold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3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4305151"/>
            <a:ext cx="10668000" cy="466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305151"/>
            <a:ext cx="10668000" cy="9525"/>
          </a:xfrm>
          <a:prstGeom prst="rect">
            <a:avLst/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6914" y="809631"/>
            <a:ext cx="10048240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lang="en-IN" sz="4400" b="1" i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us Jakarta Sans"/>
              </a:rPr>
              <a:t>   </a:t>
            </a:r>
            <a:r>
              <a:rPr sz="4800" b="1" i="0" u="sng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EcoWise</a:t>
            </a:r>
            <a:r>
              <a:rPr sz="4800" b="1" i="0" u="sng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 AI Platform</a:t>
            </a:r>
            <a:r>
              <a:rPr lang="en-IN" sz="900" b="1" i="0" u="sng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pPr algn="l">
              <a:lnSpc>
                <a:spcPts val="4830"/>
              </a:lnSpc>
            </a:pPr>
            <a:endParaRPr lang="en-IN" sz="4400" b="1" i="0" u="sng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us Jakarta Sans"/>
            </a:endParaRPr>
          </a:p>
          <a:p>
            <a:pPr algn="l">
              <a:lnSpc>
                <a:spcPct val="100000"/>
              </a:lnSpc>
            </a:pPr>
            <a:r>
              <a:rPr lang="en-US" sz="3200" b="1" i="0" u="sng" dirty="0">
                <a:solidFill>
                  <a:srgbClr val="FFFFFF"/>
                </a:solidFill>
                <a:latin typeface="Plus Jakarta Sans"/>
              </a:rPr>
              <a:t>Agentic AI for Sustainable Campus Resource &amp; Waste Intelligence</a:t>
            </a:r>
            <a:endParaRPr sz="3200" b="1" i="0" u="sng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299370"/>
            <a:ext cx="8096250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>
                <a:solidFill>
                  <a:srgbClr val="A1A1AA"/>
                </a:solidFill>
                <a:latin typeface="Inter"/>
              </a:rPr>
              <a:t>Agentic AI for multimodal campus waste classification, 12ms edge telemetry, and IBM Granite RAG decision governance.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595663"/>
            <a:ext cx="145851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1717A"/>
                </a:solidFill>
                <a:latin typeface="Inter"/>
              </a:rPr>
              <a:t>CORE PILLARS: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9312" y="4586138"/>
            <a:ext cx="154781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E4E4E7"/>
                </a:solidFill>
                <a:latin typeface="Inter"/>
              </a:rPr>
              <a:t>NIR Vision Sorting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8062" y="4581376"/>
            <a:ext cx="3714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287" y="4586138"/>
            <a:ext cx="13239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E4E4E7"/>
                </a:solidFill>
                <a:latin typeface="Inter"/>
              </a:rPr>
              <a:t>FastAPI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012" y="4581376"/>
            <a:ext cx="3714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9237" y="4586138"/>
            <a:ext cx="177403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E4E4E7"/>
                </a:solidFill>
                <a:latin typeface="Inter"/>
              </a:rPr>
              <a:t>IBM Granite 3.0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8962" y="4581376"/>
            <a:ext cx="3714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5187" y="4586138"/>
            <a:ext cx="150018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0B981"/>
                </a:solidFill>
                <a:latin typeface="Inter"/>
              </a:rPr>
              <a:t>HITL Governance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0B78AF-CEA4-0A55-FF86-CC8352F74CFD}"/>
              </a:ext>
            </a:extLst>
          </p:cNvPr>
          <p:cNvSpPr txBox="1"/>
          <p:nvPr/>
        </p:nvSpPr>
        <p:spPr>
          <a:xfrm>
            <a:off x="1087120" y="5415280"/>
            <a:ext cx="58518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u="sng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By- </a:t>
            </a:r>
          </a:p>
          <a:p>
            <a:r>
              <a:rPr lang="en-IN" sz="2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IN" sz="2400" b="1" u="sng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Harsh Kumar Jha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0040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200400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20040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" y="3324225"/>
            <a:ext cx="20955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9162" y="3324225"/>
            <a:ext cx="23812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1537" y="3324225"/>
            <a:ext cx="18097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Autonomous Campus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Multimodal Sorting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210050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Real-time optical object classification.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12ms Mesh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210050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Edge vibration and energy monitoring.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848100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Granite RAG 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2100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Grounded citations for ISO 14001.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05100"/>
            <a:ext cx="5334000" cy="2400300"/>
          </a:xfrm>
          <a:prstGeom prst="roundRect">
            <a:avLst>
              <a:gd name="adj" fmla="val 4761"/>
            </a:avLst>
          </a:prstGeom>
          <a:solidFill>
            <a:srgbClr val="131316"/>
          </a:solidFill>
          <a:ln w="9525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705100"/>
            <a:ext cx="5334000" cy="2400300"/>
          </a:xfrm>
          <a:prstGeom prst="roundRect">
            <a:avLst>
              <a:gd name="adj" fmla="val 4761"/>
            </a:avLst>
          </a:prstGeom>
          <a:solidFill>
            <a:srgbClr val="131316"/>
          </a:solidFill>
          <a:ln w="9525">
            <a:solidFill>
              <a:srgbClr val="06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7171"/>
                </a:solidFill>
                <a:latin typeface="Inter"/>
              </a:rPr>
              <a:t>PROBLEM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Campus Operational Bottlenecks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3057525"/>
            <a:ext cx="6075759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7171"/>
                </a:solidFill>
                <a:latin typeface="Plus Jakarta Sans"/>
              </a:rPr>
              <a:t>Traditional Campus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3057525"/>
            <a:ext cx="55911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Plus Jakarta Sans"/>
              </a:rPr>
              <a:t>EcoWise Autonomous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2025" y="349567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&gt;35% Contamination: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High sorting error rates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2025" y="384810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Zero Telemetry: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Invisible power surges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420052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Delayed Feedback: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Waste spikes undetected for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455295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Manual Audits: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Subjective compliance logging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825" y="349567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&lt;0.5% Contamination: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Precision pneumatic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825" y="384810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12ms Live Stream: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Mesh sensor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825" y="420052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Instant Alerting: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Autonomous anomaly triggering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0825" y="455295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Granite RAG: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Verifiable compliance grounding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52750"/>
            <a:ext cx="2600325" cy="1905000"/>
          </a:xfrm>
          <a:prstGeom prst="roundRect">
            <a:avLst>
              <a:gd name="adj" fmla="val 6000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952750"/>
            <a:ext cx="2600325" cy="1905000"/>
          </a:xfrm>
          <a:prstGeom prst="roundRect">
            <a:avLst>
              <a:gd name="adj" fmla="val 6000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952750"/>
            <a:ext cx="2600325" cy="1905000"/>
          </a:xfrm>
          <a:prstGeom prst="roundRect">
            <a:avLst>
              <a:gd name="adj" fmla="val 6000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952750"/>
            <a:ext cx="2600325" cy="1905000"/>
          </a:xfrm>
          <a:prstGeom prst="roundRect">
            <a:avLst>
              <a:gd name="adj" fmla="val 6000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SUSTAINABILITY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UN SDG 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3228975"/>
            <a:ext cx="2750343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0B981"/>
                </a:solidFill>
                <a:latin typeface="Inter"/>
              </a:rPr>
              <a:t>SDG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3667125"/>
            <a:ext cx="2410301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Responsible Consumption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4181475"/>
            <a:ext cx="22955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98.7% material purity recovery.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3228975"/>
            <a:ext cx="2750343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6B6D4"/>
                </a:solidFill>
                <a:latin typeface="Inter"/>
              </a:rPr>
              <a:t>SDG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3667125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Sustainable Cities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3962400"/>
            <a:ext cx="22955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Eliminating campus bin contamination.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275" y="3228975"/>
            <a:ext cx="2750343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59E0B"/>
                </a:solidFill>
                <a:latin typeface="Inter"/>
              </a:rPr>
              <a:t>SDG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275" y="3667125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Climate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275" y="3962400"/>
            <a:ext cx="22955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22% conveyor energy reduction.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2100" y="3228975"/>
            <a:ext cx="2750343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A855F7"/>
                </a:solidFill>
                <a:latin typeface="Inter"/>
              </a:rPr>
              <a:t>SDG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2100" y="3667125"/>
            <a:ext cx="28878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Quality Education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2100" y="3962400"/>
            <a:ext cx="22955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Student eco-impact engagement.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193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4480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4767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252" y="1838325"/>
            <a:ext cx="5277147" cy="4095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777" y="1847850"/>
            <a:ext cx="5258097" cy="407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Decoupled Microservices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6193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0B981"/>
                </a:solidFill>
                <a:latin typeface="Plus Jakarta Sans"/>
              </a:rPr>
              <a:t>React 18 &amp; Vite 5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28956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Tailwind chassis with live SVG gauges.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6480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6B6D4"/>
                </a:solidFill>
                <a:latin typeface="Plus Jakarta Sans"/>
              </a:rPr>
              <a:t>FastAPI Async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9243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Pydantic validation with SQLAlchemy 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6767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A855F7"/>
                </a:solidFill>
                <a:latin typeface="Plus Jakarta Sans"/>
              </a:rPr>
              <a:t>IBM Granite 3.0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49530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Deterministic compliance knowledge grounding.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667000"/>
            <a:ext cx="3505200" cy="2476500"/>
          </a:xfrm>
          <a:prstGeom prst="roundRect">
            <a:avLst>
              <a:gd name="adj" fmla="val 461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667000"/>
            <a:ext cx="3505200" cy="2476500"/>
          </a:xfrm>
          <a:prstGeom prst="roundRect">
            <a:avLst>
              <a:gd name="adj" fmla="val 461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667000"/>
            <a:ext cx="3505200" cy="2476500"/>
          </a:xfrm>
          <a:prstGeom prst="roundRect">
            <a:avLst>
              <a:gd name="adj" fmla="val 461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UI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Frontend Client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2981325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Component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7725" y="2981325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Styling &amp; Motion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1525" y="2981325"/>
            <a:ext cx="377547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Analytics &amp;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3400425"/>
            <a:ext cx="35956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React 18: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Strict mode concurrence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" y="3714750"/>
            <a:ext cx="29718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TypeScript: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Complete schema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925" y="4229100"/>
            <a:ext cx="35956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Vite 5: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Sub-second module reload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7725" y="3400425"/>
            <a:ext cx="29718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Tailwind CSS: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Dark chassis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7725" y="3914775"/>
            <a:ext cx="29718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Lucide Suite: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Vector industrial icons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25" y="4429125"/>
            <a:ext cx="29718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SVG Gauges: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Real-time dynamic strokes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1525" y="3400425"/>
            <a:ext cx="29718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Recharts Engine: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Area, bar, and donuts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1525" y="3914775"/>
            <a:ext cx="35956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Axios Client: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Bearer auth injection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1525" y="4229100"/>
            <a:ext cx="35956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Fallbacks: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Resilient mock stores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0040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200400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20040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937" y="3324225"/>
            <a:ext cx="180975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737" y="3324225"/>
            <a:ext cx="18097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3324225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BACKEND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FastAPI High-Throughput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Python 3.10+ Async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210050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Concurrent event loops for telemetry.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SQLAlchemy 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210050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SQLite and PostgreSQL persistence.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848100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Pydantic V2 Schemas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2100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Strict runtime payload validation.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647950"/>
            <a:ext cx="5334000" cy="2514600"/>
          </a:xfrm>
          <a:prstGeom prst="roundRect">
            <a:avLst>
              <a:gd name="adj" fmla="val 454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647950"/>
            <a:ext cx="5334000" cy="2514600"/>
          </a:xfrm>
          <a:prstGeom prst="roundRect">
            <a:avLst>
              <a:gd name="adj" fmla="val 454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000375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3000375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462" y="3095625"/>
            <a:ext cx="238125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2262" y="3095625"/>
            <a:ext cx="238125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1: /LOGIN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Dual-Role Security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7325" y="3057525"/>
            <a:ext cx="2987873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Operator / Admin 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55282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Account: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operator@ecowise.ai (admin123)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90525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Sensor Control: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Dynamic slider 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425767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HITL Authority: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Approve or modify proposals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" y="461010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Exports: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Full structured CSV and PDF logs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6125" y="3057525"/>
            <a:ext cx="306288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Student / Campus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825" y="355282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Account: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student@ecowise.ai (student123)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90525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Impact Tracking: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Building sustainability 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825" y="425767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Scanner Demo: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Item classification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461010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Knowledge Base: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Granite RAG compliance queries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305847" y="240030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305847" y="34480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5847" y="449580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38325"/>
            <a:ext cx="5277147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2: /DASHBOARD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Central Operations Cockpit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3972" y="260032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0B981"/>
                </a:solidFill>
                <a:latin typeface="Plus Jakarta Sans"/>
              </a:rPr>
              <a:t>Recharts Area 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3972" y="287655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Efficiency percentage vs energy draw.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3972" y="364807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6B6D4"/>
                </a:solidFill>
                <a:latin typeface="Plus Jakarta Sans"/>
              </a:rPr>
              <a:t>12ms Mesh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3972" y="392430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Continuous edge sensor communication.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3972" y="469582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Active KPI Badges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972" y="497205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1,245 kg tracked with 0.5% variance.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79B2BC-0CB3-65B3-5510-30E07F846E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04" r="8681"/>
          <a:stretch>
            <a:fillRect/>
          </a:stretch>
        </p:blipFill>
        <p:spPr>
          <a:xfrm>
            <a:off x="206990" y="1686441"/>
            <a:ext cx="6217920" cy="43995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19425"/>
            <a:ext cx="3505200" cy="1771650"/>
          </a:xfrm>
          <a:prstGeom prst="roundRect">
            <a:avLst>
              <a:gd name="adj" fmla="val 645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019425"/>
            <a:ext cx="3505200" cy="1771650"/>
          </a:xfrm>
          <a:prstGeom prst="roundRect">
            <a:avLst>
              <a:gd name="adj" fmla="val 645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019425"/>
            <a:ext cx="3505200" cy="1771650"/>
          </a:xfrm>
          <a:prstGeom prst="roundRect">
            <a:avLst>
              <a:gd name="adj" fmla="val 645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HARDWARE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SVG Radial Telemetry Gauges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731" y="3333750"/>
            <a:ext cx="36909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10B981"/>
                </a:solidFill>
                <a:latin typeface="Plus Jakarta Sans"/>
              </a:rPr>
              <a:t>76.6%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457" y="3981450"/>
            <a:ext cx="387548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Line Throughput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731" y="4276725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A1A1AA"/>
                </a:solidFill>
                <a:latin typeface="Inter"/>
              </a:rPr>
              <a:t>230 of 300 items processed.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0531" y="3333750"/>
            <a:ext cx="36909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06B6D4"/>
                </a:solidFill>
                <a:latin typeface="Plus Jakarta Sans"/>
              </a:rPr>
              <a:t>95.0%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8257" y="3981450"/>
            <a:ext cx="387548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Actuator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0531" y="4276725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A1A1AA"/>
                </a:solidFill>
                <a:latin typeface="Inter"/>
              </a:rPr>
              <a:t>Pneumatic arms fully calibrated.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4331" y="3333750"/>
            <a:ext cx="3690937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A855F7"/>
                </a:solidFill>
                <a:latin typeface="Plus Jakarta Sans"/>
              </a:rPr>
              <a:t>98.2%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2057" y="3981450"/>
            <a:ext cx="387548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Material Purity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4331" y="4276725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A1A1AA"/>
                </a:solidFill>
                <a:latin typeface="Inter"/>
              </a:rPr>
              <a:t>High-grade recovered stream.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305847" y="240030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305847" y="34480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5847" y="449580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38325"/>
            <a:ext cx="5277147" cy="4095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847850"/>
            <a:ext cx="5258097" cy="407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3: /SCANNER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Multimodal Waste 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3972" y="260032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0B981"/>
                </a:solidFill>
                <a:latin typeface="Plus Jakarta Sans"/>
              </a:rPr>
              <a:t>Bounding Box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3972" y="287655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PET Plastic 94% and Can 98%.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3972" y="364807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6B6D4"/>
                </a:solidFill>
                <a:latin typeface="Plus Jakarta Sans"/>
              </a:rPr>
              <a:t>Dynamic Confidence 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3972" y="392430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0-100% threshold calibration sliders.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3972" y="4695825"/>
            <a:ext cx="564802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Conveyor Speed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972" y="4972050"/>
            <a:ext cx="564802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10-100 m/min adaptive rate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300412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30041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30041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75" y="3424237"/>
            <a:ext cx="26670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737" y="3424237"/>
            <a:ext cx="18097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2962" y="3424237"/>
            <a:ext cx="23812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DIAGNOSTICS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Oscillation &amp; Live 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948112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Motor Oscillation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Continuous vibration in mm/s.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948112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Power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Active conveyor watt consumption.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948112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Terminal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Timestamped actuator events.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43212"/>
            <a:ext cx="5334000" cy="2124075"/>
          </a:xfrm>
          <a:prstGeom prst="roundRect">
            <a:avLst>
              <a:gd name="adj" fmla="val 5381"/>
            </a:avLst>
          </a:prstGeom>
          <a:solidFill>
            <a:srgbClr val="131316"/>
          </a:solidFill>
          <a:ln w="9525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843212"/>
            <a:ext cx="5334000" cy="2124075"/>
          </a:xfrm>
          <a:prstGeom prst="roundRect">
            <a:avLst>
              <a:gd name="adj" fmla="val 5381"/>
            </a:avLst>
          </a:prstGeom>
          <a:solidFill>
            <a:srgbClr val="131316"/>
          </a:solidFill>
          <a:ln w="9525">
            <a:solidFill>
              <a:srgbClr val="06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195637"/>
            <a:ext cx="342900" cy="342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3195637"/>
            <a:ext cx="342900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3281362"/>
            <a:ext cx="171450" cy="171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75" y="3281362"/>
            <a:ext cx="152400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7: /KB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IBM Granite 3.0 RAG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9225" y="3233737"/>
            <a:ext cx="2612826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7171"/>
                </a:solidFill>
                <a:latin typeface="Plus Jakarta Sans"/>
              </a:rPr>
              <a:t>Ungrounded AI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709987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Hallucinations: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Fabricated disposal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4062412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Audit Lag: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Zero verifiable citations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4414837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CA5A5"/>
                </a:solidFill>
                <a:latin typeface="Inter"/>
              </a:rPr>
              <a:t>Penalties: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Risk of regulatory fines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8025" y="3233737"/>
            <a:ext cx="306288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Plus Jakarta Sans"/>
              </a:rPr>
              <a:t>Granite Grounded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0825" y="3709987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Ref #GR-883: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ISO 14001:2024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825" y="4062412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EPA Guidance: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Deterministic circular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4414837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Direct Chute: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Policy-driven diversion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886075"/>
            <a:ext cx="3505200" cy="2038350"/>
          </a:xfrm>
          <a:prstGeom prst="roundRect">
            <a:avLst>
              <a:gd name="adj" fmla="val 560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0040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200400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20040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175" y="3333750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8687" y="3333750"/>
            <a:ext cx="21907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0587" y="3333750"/>
            <a:ext cx="142875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4: /ANALYTICS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Campus Resource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5 Campus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2100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Building power and water metrics.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848100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Stream Purity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210050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Plastics 98.7% and metals 99.1% pure.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848100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Audit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210050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Structured CSV and PDF reporting.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24187"/>
            <a:ext cx="2600325" cy="1762125"/>
          </a:xfrm>
          <a:prstGeom prst="roundRect">
            <a:avLst>
              <a:gd name="adj" fmla="val 6486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3024187"/>
            <a:ext cx="2600325" cy="1762125"/>
          </a:xfrm>
          <a:prstGeom prst="roundRect">
            <a:avLst>
              <a:gd name="adj" fmla="val 6486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3024187"/>
            <a:ext cx="2600325" cy="1762125"/>
          </a:xfrm>
          <a:prstGeom prst="roundRect">
            <a:avLst>
              <a:gd name="adj" fmla="val 6486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3024187"/>
            <a:ext cx="2600325" cy="1762125"/>
          </a:xfrm>
          <a:prstGeom prst="roundRect">
            <a:avLst>
              <a:gd name="adj" fmla="val 6486"/>
            </a:avLst>
          </a:prstGeom>
          <a:solidFill>
            <a:srgbClr val="131316"/>
          </a:solidFill>
          <a:ln w="9525">
            <a:solidFill>
              <a:srgbClr val="06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7725" y="33004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38550" y="33004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29375" y="33004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220200" y="3300412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DECISION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EcoAction HITL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330041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3795712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Surge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4110037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32.9% plastic anomaly flagged.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5675" y="330041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8550" y="3795712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RCA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8550" y="4110037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Granite isolates cafeteria load.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30041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9375" y="3795712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Plan Creation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9375" y="4110037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6.2 bar actuator calibration.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7325" y="3300412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09090B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0200" y="3795712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34D399"/>
                </a:solidFill>
                <a:latin typeface="Plus Jakarta Sans"/>
              </a:rPr>
              <a:t>Human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0200" y="4110037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1-click approval or modification.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986087"/>
            <a:ext cx="3505200" cy="1838325"/>
          </a:xfrm>
          <a:prstGeom prst="roundRect">
            <a:avLst>
              <a:gd name="adj" fmla="val 6217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300412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300412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300412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362" y="3433762"/>
            <a:ext cx="238125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0" y="3433762"/>
            <a:ext cx="17145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2487" y="3433762"/>
            <a:ext cx="219075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5: /SENSORS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IoT Mesh &amp; Pneumatics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948112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12 Edge 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Active MQTT telemetry mesh grid.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948112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Pneumatic Valves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Piston pressure and cycle logging.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948112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Node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310062"/>
            <a:ext cx="3690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Battery voltage and ping latency.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647950"/>
            <a:ext cx="5334000" cy="2514600"/>
          </a:xfrm>
          <a:prstGeom prst="roundRect">
            <a:avLst>
              <a:gd name="adj" fmla="val 4545"/>
            </a:avLst>
          </a:prstGeom>
          <a:solidFill>
            <a:srgbClr val="131316"/>
          </a:solidFill>
          <a:ln w="9525">
            <a:solidFill>
              <a:srgbClr val="06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647950"/>
            <a:ext cx="5334000" cy="2514600"/>
          </a:xfrm>
          <a:prstGeom prst="roundRect">
            <a:avLst>
              <a:gd name="adj" fmla="val 4545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000375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3000375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987" y="3095625"/>
            <a:ext cx="219075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2262" y="3095625"/>
            <a:ext cx="238125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VIEWPORT 6: /AGENT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Agentic Policy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7325" y="3057525"/>
            <a:ext cx="361295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Plus Jakarta Sans"/>
              </a:rPr>
              <a:t>Human-in-the-Loop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55282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Operator Veto: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Plan requires 1-click authorization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90525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Parameter Tuning: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Live modal pressure adjustments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4257675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Audit Trail: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Explicit operator signatures stored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" y="4610100"/>
            <a:ext cx="5786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EE7B7"/>
                </a:solidFill>
                <a:latin typeface="Inter"/>
              </a:rPr>
              <a:t>Safety Gate:</a:t>
            </a:r>
            <a:r>
              <a:rPr sz="1350" b="0" i="0" u="none">
                <a:solidFill>
                  <a:srgbClr val="E4E4E7"/>
                </a:solidFill>
                <a:latin typeface="Inter"/>
              </a:rPr>
              <a:t> Essential for hazardous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6125" y="3057525"/>
            <a:ext cx="306288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lus Jakarta Sans"/>
              </a:rPr>
              <a:t>Full Autonomous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825" y="355282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Sub-Second Trigger: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Immediate valve actuation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90525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Automated Throttle: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Real-time conveyor slowdown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825" y="4257675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Granite Direct Execution: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Rule-based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4610100"/>
            <a:ext cx="55911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Peak Efficiency: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 Maximizes line sorting speed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128962"/>
            <a:ext cx="2600325" cy="1552575"/>
          </a:xfrm>
          <a:prstGeom prst="roundRect">
            <a:avLst>
              <a:gd name="adj" fmla="val 736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3128962"/>
            <a:ext cx="2600325" cy="1552575"/>
          </a:xfrm>
          <a:prstGeom prst="roundRect">
            <a:avLst>
              <a:gd name="adj" fmla="val 736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3128962"/>
            <a:ext cx="2600325" cy="1552575"/>
          </a:xfrm>
          <a:prstGeom prst="roundRect">
            <a:avLst>
              <a:gd name="adj" fmla="val 736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3128962"/>
            <a:ext cx="2600325" cy="1552575"/>
          </a:xfrm>
          <a:prstGeom prst="roundRect">
            <a:avLst>
              <a:gd name="adj" fmla="val 7361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PERFORMANCE BENCHMARKS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Platform Operational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965" y="3443287"/>
            <a:ext cx="2845593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10B981"/>
                </a:solidFill>
                <a:latin typeface="Plus Jakarta Sans"/>
              </a:rPr>
              <a:t>98.7%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965" y="4167187"/>
            <a:ext cx="2845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4E4E7"/>
                </a:solidFill>
                <a:latin typeface="Inter"/>
              </a:rPr>
              <a:t>Stream Purity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7790" y="3443287"/>
            <a:ext cx="2845593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6B6D4"/>
                </a:solidFill>
                <a:latin typeface="Plus Jakarta Sans"/>
              </a:rPr>
              <a:t>&lt;0.5%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7790" y="4167187"/>
            <a:ext cx="2845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4E4E7"/>
                </a:solidFill>
                <a:latin typeface="Inter"/>
              </a:rPr>
              <a:t>Residual Contamination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8615" y="3443287"/>
            <a:ext cx="2845593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F59E0B"/>
                </a:solidFill>
                <a:latin typeface="Plus Jakarta Sans"/>
              </a:rPr>
              <a:t>-22%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615" y="4167187"/>
            <a:ext cx="2845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4E4E7"/>
                </a:solidFill>
                <a:latin typeface="Inter"/>
              </a:rPr>
              <a:t>Conveyor Energy Draw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9440" y="3443287"/>
            <a:ext cx="2845593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A855F7"/>
                </a:solidFill>
                <a:latin typeface="Plus Jakarta Sans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9440" y="4167187"/>
            <a:ext cx="2845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4E4E7"/>
                </a:solidFill>
                <a:latin typeface="Inter"/>
              </a:rPr>
              <a:t>Items / Hr Capacity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193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4480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476750"/>
            <a:ext cx="5276552" cy="876300"/>
          </a:xfrm>
          <a:prstGeom prst="roundRect">
            <a:avLst>
              <a:gd name="adj" fmla="val 10869"/>
            </a:avLst>
          </a:prstGeom>
          <a:solidFill>
            <a:srgbClr val="131316"/>
          </a:solidFill>
          <a:ln w="9525">
            <a:solidFill>
              <a:srgbClr val="272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252" y="1838325"/>
            <a:ext cx="5277147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Inter"/>
              </a:rPr>
              <a:t>ENGINEERING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627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Plus Jakarta Sans"/>
              </a:rPr>
              <a:t>Future Scope &amp; Edge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6193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0B981"/>
                </a:solidFill>
                <a:latin typeface="Plus Jakarta Sans"/>
              </a:rPr>
              <a:t>Jetson Nano Edge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28956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Direct neural camera inference.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36480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6B6D4"/>
                </a:solidFill>
                <a:latin typeface="Plus Jakarta Sans"/>
              </a:rPr>
              <a:t>LSTM Predictive 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9243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Forecasting actuator vibration failure.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676775"/>
            <a:ext cx="630039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Plus Jakarta Sans"/>
              </a:rPr>
              <a:t>Blockchain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4953000"/>
            <a:ext cx="600037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Immutable campus recycling audit trail.</a:t>
            </a:r>
          </a:p>
        </p:txBody>
      </p:sp>
      <p:pic>
        <p:nvPicPr>
          <p:cNvPr id="16" name="Picture 15" descr="image.png">
            <a:extLst>
              <a:ext uri="{FF2B5EF4-FFF2-40B4-BE49-F238E27FC236}">
                <a16:creationId xmlns:a16="http://schemas.microsoft.com/office/drawing/2014/main" id="{A2225CE8-4513-6BE0-DCCC-A038E2EE5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777" y="1847850"/>
            <a:ext cx="5258097" cy="4076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87624" y="2651760"/>
            <a:ext cx="2416752" cy="6771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IN" sz="4400" b="1" i="0" u="none" dirty="0">
                <a:solidFill>
                  <a:srgbClr val="FFFFFF"/>
                </a:solidFill>
                <a:latin typeface="Plus Jakarta Sans"/>
              </a:rPr>
              <a:t>Thank You</a:t>
            </a:r>
            <a:endParaRPr sz="4400" b="1" i="0" u="none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47875" y="3448050"/>
            <a:ext cx="80962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A1A1AA"/>
                </a:solidFill>
                <a:latin typeface="Inter"/>
              </a:rPr>
              <a:t>EcoWise AI: Transforming campus waste streams into circular resource intelligence.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7259" y="4362450"/>
            <a:ext cx="2059781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0B981"/>
                </a:solidFill>
                <a:latin typeface="Inter"/>
              </a:rPr>
              <a:t>• Autonomous Sorting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8687" y="4362450"/>
            <a:ext cx="3714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8FAFC"/>
                </a:solidFill>
                <a:latin typeface="Inter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7762" y="4362450"/>
            <a:ext cx="200025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6B6D4"/>
                </a:solidFill>
                <a:latin typeface="Inter"/>
              </a:rPr>
              <a:t>• Real-Time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5612" y="4362450"/>
            <a:ext cx="3714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8FAFC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4206" y="4362450"/>
            <a:ext cx="240506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A855F7"/>
                </a:solidFill>
                <a:latin typeface="Inter"/>
              </a:rPr>
              <a:t>• Granite RAG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848</Words>
  <Application>Microsoft Office PowerPoint</Application>
  <PresentationFormat>Widescreen</PresentationFormat>
  <Paragraphs>202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Calibri</vt:lpstr>
      <vt:lpstr>Inter</vt:lpstr>
      <vt:lpstr>Plus Jakarta Sans</vt:lpstr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HARSH JHA</cp:lastModifiedBy>
  <cp:revision>3</cp:revision>
  <dcterms:created xsi:type="dcterms:W3CDTF">2013-01-27T09:14:16Z</dcterms:created>
  <dcterms:modified xsi:type="dcterms:W3CDTF">2026-09-19T10:42:54Z</dcterms:modified>
  <cp:category/>
</cp:coreProperties>
</file>